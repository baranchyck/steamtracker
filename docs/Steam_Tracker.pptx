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1F2F7"/>
                </a:solidFill>
                <a:latin typeface="Aptos"/>
              </a:rPr>
              <a:t>STEAM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44752"/>
            <a:ext cx="46634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ADB1BF"/>
                </a:solidFill>
                <a:latin typeface="Aptos"/>
              </a:rPr>
              <a:t>Аналітика</a:t>
            </a:r>
            <a:r>
              <a:rPr sz="1600" b="0" dirty="0">
                <a:solidFill>
                  <a:srgbClr val="ADB1BF"/>
                </a:solidFill>
                <a:latin typeface="Aptos"/>
              </a:rPr>
              <a:t> Steam-</a:t>
            </a:r>
            <a:r>
              <a:rPr sz="1600" b="0" dirty="0" err="1">
                <a:solidFill>
                  <a:srgbClr val="ADB1BF"/>
                </a:solidFill>
                <a:latin typeface="Aptos"/>
              </a:rPr>
              <a:t>бібліотеки</a:t>
            </a:r>
            <a:r>
              <a:rPr sz="1600" b="0" dirty="0">
                <a:solidFill>
                  <a:srgbClr val="ADB1BF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ADB1BF"/>
                </a:solidFill>
                <a:latin typeface="Aptos"/>
              </a:rPr>
              <a:t>досягнень</a:t>
            </a:r>
            <a:r>
              <a:rPr sz="1600" b="0" dirty="0">
                <a:solidFill>
                  <a:srgbClr val="ADB1BF"/>
                </a:solidFill>
                <a:latin typeface="Aptos"/>
              </a:rPr>
              <a:t> і </a:t>
            </a:r>
            <a:r>
              <a:rPr sz="1600" b="0" dirty="0" err="1">
                <a:solidFill>
                  <a:srgbClr val="ADB1BF"/>
                </a:solidFill>
                <a:latin typeface="Aptos"/>
              </a:rPr>
              <a:t>статусу</a:t>
            </a:r>
            <a:r>
              <a:rPr sz="160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DB1BF"/>
                </a:solidFill>
                <a:latin typeface="Aptos"/>
              </a:rPr>
              <a:t>друзів</a:t>
            </a:r>
            <a:r>
              <a:rPr sz="1600" b="0" dirty="0">
                <a:solidFill>
                  <a:srgbClr val="ADB1BF"/>
                </a:solidFill>
                <a:latin typeface="Aptos"/>
              </a:rPr>
              <a:t> в </a:t>
            </a:r>
            <a:r>
              <a:rPr sz="1600" b="0" dirty="0" err="1">
                <a:solidFill>
                  <a:srgbClr val="ADB1BF"/>
                </a:solidFill>
                <a:latin typeface="Aptos"/>
              </a:rPr>
              <a:t>одному</a:t>
            </a:r>
            <a:r>
              <a:rPr sz="160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DB1BF"/>
                </a:solidFill>
                <a:latin typeface="Aptos"/>
              </a:rPr>
              <a:t>місці</a:t>
            </a:r>
            <a:endParaRPr sz="1600" b="0" dirty="0">
              <a:solidFill>
                <a:srgbClr val="ADB1BF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5212080" cy="269748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63347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 err="1">
                <a:solidFill>
                  <a:srgbClr val="F1F2F7"/>
                </a:solidFill>
                <a:latin typeface="Aptos"/>
              </a:rPr>
              <a:t>Що</a:t>
            </a:r>
            <a:r>
              <a:rPr sz="1800" b="1" dirty="0">
                <a:solidFill>
                  <a:srgbClr val="F1F2F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1F2F7"/>
                </a:solidFill>
                <a:latin typeface="Aptos"/>
              </a:rPr>
              <a:t>робить</a:t>
            </a:r>
            <a:r>
              <a:rPr sz="1800" b="1" dirty="0">
                <a:solidFill>
                  <a:srgbClr val="F1F2F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1F2F7"/>
                </a:solidFill>
                <a:latin typeface="Aptos"/>
              </a:rPr>
              <a:t>сервіс</a:t>
            </a:r>
            <a:r>
              <a:rPr sz="1800" b="1" dirty="0">
                <a:solidFill>
                  <a:srgbClr val="F1F2F7"/>
                </a:solidFill>
                <a:latin typeface="Aptos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90672"/>
            <a:ext cx="4526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F1F2F7"/>
                </a:solidFill>
                <a:latin typeface="Aptos"/>
              </a:defRPr>
            </a:pPr>
            <a:r>
              <a:t>Steam уже зберігає багато даних про користувача.</a:t>
            </a:r>
          </a:p>
          <a:p>
            <a:pPr>
              <a:spcAft>
                <a:spcPts val="500"/>
              </a:spcAft>
              <a:defRPr sz="1350" b="0">
                <a:solidFill>
                  <a:srgbClr val="F1F2F7"/>
                </a:solidFill>
                <a:latin typeface="Aptos"/>
              </a:defRPr>
            </a:pPr>
            <a:r>
              <a:t>Steam Tracker збирає їх у зрозумілу аналітику:</a:t>
            </a:r>
          </a:p>
          <a:p>
            <a:pPr>
              <a:spcAft>
                <a:spcPts val="500"/>
              </a:spcAft>
              <a:defRPr sz="1350" b="0">
                <a:solidFill>
                  <a:srgbClr val="ADB1BF"/>
                </a:solidFill>
                <a:latin typeface="Aptos"/>
              </a:defRPr>
            </a:pPr>
            <a:r>
              <a:t>• що варто грати далі</a:t>
            </a:r>
            <a:br/>
            <a:r>
              <a:t>• які досягнення простіше закрити</a:t>
            </a:r>
            <a:br/>
            <a:r>
              <a:t>• з ким із друзів можна зіграти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4122" y="800100"/>
            <a:ext cx="5074920" cy="489204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2618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85FF"/>
                </a:solidFill>
                <a:latin typeface="Aptos"/>
              </a:rPr>
              <a:t>МОЯ БІБЛІОТЕКА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3736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85431" y="1901952"/>
            <a:ext cx="10881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7E5CF6"/>
                </a:solidFill>
                <a:latin typeface="Aptos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487168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DB1BF"/>
                </a:solidFill>
                <a:latin typeface="Aptos"/>
              </a:rPr>
              <a:t>ігри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73736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9912" y="1901952"/>
            <a:ext cx="10881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8A04C"/>
                </a:solidFill>
                <a:latin typeface="Aptos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487168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DB1BF"/>
                </a:solidFill>
                <a:latin typeface="Aptos"/>
              </a:rPr>
              <a:t>досягнень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73736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94392" y="1901952"/>
            <a:ext cx="9966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5DB885"/>
                </a:solidFill>
                <a:latin typeface="Apto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2487168"/>
            <a:ext cx="996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DB1BF"/>
                </a:solidFill>
                <a:latin typeface="Aptos"/>
              </a:rPr>
              <a:t>друзів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461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2F7"/>
                </a:solidFill>
                <a:latin typeface="Aptos"/>
              </a:rPr>
              <a:t>Остання активність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675887"/>
            <a:ext cx="4343400" cy="384048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2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31152" y="3749039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2F7"/>
                </a:solidFill>
                <a:latin typeface="Aptos"/>
              </a:rPr>
              <a:t>Hades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749039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DB1BF"/>
                </a:solidFill>
                <a:latin typeface="Aptos"/>
              </a:rPr>
              <a:t>74 год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178807"/>
            <a:ext cx="4343400" cy="384048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2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31152" y="4251959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2F7"/>
                </a:solidFill>
                <a:latin typeface="Aptos"/>
              </a:rPr>
              <a:t>Terraria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251959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DB1BF"/>
                </a:solidFill>
                <a:latin typeface="Aptos"/>
              </a:rPr>
              <a:t>51 год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4681727"/>
            <a:ext cx="4343400" cy="384048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2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4754879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1F2F7"/>
                </a:solidFill>
                <a:latin typeface="Aptos"/>
              </a:rPr>
              <a:t>Portal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4754879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DB1BF"/>
                </a:solidFill>
                <a:latin typeface="Aptos"/>
              </a:rPr>
              <a:t>18 год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36576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05332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DB1BF"/>
                </a:solidFill>
                <a:latin typeface="Aptos"/>
              </a:rPr>
              <a:t>Steam Tracker MVP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Дані є, але інсайтів мало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Steam показує статистику, проте користувачу доводиться самому робити висновки.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0292" cy="1417320"/>
          </a:xfrm>
          <a:prstGeom prst="rect">
            <a:avLst/>
          </a:prstGeom>
          <a:solidFill>
            <a:srgbClr val="7E5CF6"/>
          </a:solidFill>
          <a:ln>
            <a:solidFill>
              <a:srgbClr val="7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5CF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39112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Дані є, інсайтів немає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41448"/>
            <a:ext cx="42976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Профіль показує години й досягнення списком. На питання «у що грати далі?» або «що реально закрити?» немає зручної відповіді.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74519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874519"/>
            <a:ext cx="50292" cy="1417320"/>
          </a:xfrm>
          <a:prstGeom prst="rect">
            <a:avLst/>
          </a:prstGeom>
          <a:solidFill>
            <a:srgbClr val="E8A04C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A04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03911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Досягнення без пріоритету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441448"/>
            <a:ext cx="4434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Щоб зрозуміти, які невиконані досягнення краще взяти першими, потрібно вручну дивитися глобальний відсоток отримання для кожної гри.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93008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493008"/>
            <a:ext cx="50292" cy="1417320"/>
          </a:xfrm>
          <a:prstGeom prst="rect">
            <a:avLst/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75887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B88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5760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Друзі — сліпа зона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59935"/>
            <a:ext cx="42976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Немає одного місця, де можна швидко побачити, хто онлайн, у що грає та які спільні ігри доступні для кооперативу.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93008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3493008"/>
            <a:ext cx="50292" cy="1417320"/>
          </a:xfrm>
          <a:prstGeom prst="rect">
            <a:avLst/>
          </a:prstGeom>
          <a:solidFill>
            <a:srgbClr val="9D85FF"/>
          </a:solidFill>
          <a:ln>
            <a:solidFill>
              <a:srgbClr val="9D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675887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65760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Невикористана бібліотека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059935"/>
            <a:ext cx="4434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Частина куплених ігор майже не запускається. При цьому користувач не бачить простої картини: які ігри використовуються найчастіше, а які залишаються без уваги.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30368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41324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A04C"/>
                </a:solidFill>
                <a:latin typeface="Aptos"/>
              </a:rPr>
              <a:t>Висновок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367528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2F7"/>
                </a:solidFill>
                <a:latin typeface="Aptos"/>
              </a:rPr>
              <a:t>Потрібен не ще один список статистики, а простий шар аналітики поверх даних Steam.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ІДЕЯ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Що таке Steam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Екосистема аналітики, яка перетворює сухі цифри Steam-акаунту на зрозумілі рішення.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657600" cy="361188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D85FF"/>
                </a:solidFill>
                <a:latin typeface="Aptos"/>
              </a:rPr>
              <a:t>3 питання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7E5CF6"/>
          </a:solidFill>
          <a:ln>
            <a:solidFill>
              <a:srgbClr val="7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752344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2F7"/>
                </a:solidFill>
                <a:latin typeface="Aptos"/>
              </a:rPr>
              <a:t>У що грати?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02666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аналіз бібліотеки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493008"/>
            <a:ext cx="502920" cy="502920"/>
          </a:xfrm>
          <a:prstGeom prst="ellipse">
            <a:avLst/>
          </a:prstGeom>
          <a:solidFill>
            <a:srgbClr val="E8A04C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502151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2F7"/>
                </a:solidFill>
                <a:latin typeface="Aptos"/>
              </a:rPr>
              <a:t>Що закрити?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7764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планувальник досягнень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42816"/>
            <a:ext cx="502920" cy="502920"/>
          </a:xfrm>
          <a:prstGeom prst="ellipse">
            <a:avLst/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251959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2F7"/>
                </a:solidFill>
                <a:latin typeface="Aptos"/>
              </a:rPr>
              <a:t>З ким грати?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526279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друзі та co-op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1874519"/>
            <a:ext cx="6903720" cy="361188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2148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2F7"/>
                </a:solidFill>
                <a:latin typeface="Aptos"/>
              </a:rPr>
              <a:t>Як це працює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7889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7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5192" y="3026664"/>
            <a:ext cx="1088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5CF6"/>
                </a:solidFill>
                <a:latin typeface="Aptos"/>
              </a:rPr>
              <a:t>Steam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017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DB1B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7" y="27889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9" y="3026664"/>
            <a:ext cx="1088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8A04C"/>
                </a:solidFill>
                <a:latin typeface="Aptos"/>
              </a:rPr>
              <a:t>Web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017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DB1BF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27889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0727" y="3026664"/>
            <a:ext cx="1088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DB885"/>
                </a:solidFill>
                <a:latin typeface="Aptos"/>
              </a:rPr>
              <a:t>Аналітика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7" y="3017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DB1BF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0344" y="27889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9D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83496" y="3026664"/>
            <a:ext cx="1088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D85FF"/>
                </a:solidFill>
                <a:latin typeface="Aptos"/>
              </a:rPr>
              <a:t>Результат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931920"/>
            <a:ext cx="5989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Сервіс отримує потрібні дані, обробляє їх і показує користувачу вже готову картину. Це дозволяє не витрачати час на ручне порівняння.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Ключовий функціонал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Шість модулів, які плануємо реалізувати в межах MVP. Дані отримуємо через Steam Web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10512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10512"/>
            <a:ext cx="50292" cy="1207008"/>
          </a:xfrm>
          <a:prstGeom prst="rect">
            <a:avLst/>
          </a:prstGeom>
          <a:solidFill>
            <a:srgbClr val="7E5CF6"/>
          </a:solidFill>
          <a:ln>
            <a:solidFill>
              <a:srgbClr val="7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5CF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75104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Авторизація Steam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4297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OpenID-логін, безпечний вхід без передачі пароля сервісу.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10512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810512"/>
            <a:ext cx="50292" cy="1207008"/>
          </a:xfrm>
          <a:prstGeom prst="rect">
            <a:avLst/>
          </a:prstGeom>
          <a:solidFill>
            <a:srgbClr val="E8A04C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A04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75104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Планувальник досягнень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77440"/>
            <a:ext cx="4297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Невиконані досягнення та сортування за глобальним % отримання.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50292" cy="1207008"/>
          </a:xfrm>
          <a:prstGeom prst="rect">
            <a:avLst/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429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B88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10712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Порівняння з друзями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13048"/>
            <a:ext cx="4297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Лідерборд за годинами, особиста позиція та порівняння з середнім.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24612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3246120"/>
            <a:ext cx="50292" cy="1207008"/>
          </a:xfrm>
          <a:prstGeom prst="rect">
            <a:avLst/>
          </a:prstGeom>
          <a:solidFill>
            <a:srgbClr val="9D85FF"/>
          </a:solidFill>
          <a:ln>
            <a:solidFill>
              <a:srgbClr val="9D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429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410712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Друзі-радар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813048"/>
            <a:ext cx="4297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Хто онлайн, у що грає та які спільні ігри можна перевірити.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81728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681728"/>
            <a:ext cx="50292" cy="1207008"/>
          </a:xfrm>
          <a:prstGeom prst="rect">
            <a:avLst/>
          </a:prstGeom>
          <a:solidFill>
            <a:srgbClr val="E8A04C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86460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A04C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84632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Co-op Matchmaker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248656"/>
            <a:ext cx="4297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Пошук спільних ігор у бібліотеках кількох гравців.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681728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4681728"/>
            <a:ext cx="50292" cy="1207008"/>
          </a:xfrm>
          <a:prstGeom prst="rect">
            <a:avLst/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86460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B885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84632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Використання бібліотеки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248656"/>
            <a:ext cx="4297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Порівняння часу в іграх та виявлення мало використовуваних покупок.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МОДУЛЬ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Планувальник досягнень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Допомагає визначити, з яких невиконаних досягнень логічно почати.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6629400" cy="406908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2F7"/>
                </a:solidFill>
                <a:latin typeface="Aptos"/>
              </a:rPr>
              <a:t>Невиконані досягнення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Сортування за глобальним відсотком отримання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80360"/>
            <a:ext cx="5989320" cy="45720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990088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2F7"/>
                </a:solidFill>
                <a:latin typeface="Aptos"/>
              </a:rPr>
              <a:t>The easiest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90088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Hades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2990088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8A04C"/>
                </a:solidFill>
                <a:latin typeface="Aptos"/>
              </a:rPr>
              <a:t>78%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93008"/>
            <a:ext cx="5989320" cy="45720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602736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2F7"/>
                </a:solidFill>
                <a:latin typeface="Aptos"/>
              </a:rPr>
              <a:t>First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60273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Portal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3602736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8A04C"/>
                </a:solidFill>
                <a:latin typeface="Aptos"/>
              </a:rPr>
              <a:t>64%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05656"/>
            <a:ext cx="5989320" cy="45720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215384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2F7"/>
                </a:solidFill>
                <a:latin typeface="Aptos"/>
              </a:rPr>
              <a:t>Hidden 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2153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Terraria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4215384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8A04C"/>
                </a:solidFill>
                <a:latin typeface="Aptos"/>
              </a:rPr>
              <a:t>41%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18304"/>
            <a:ext cx="5989320" cy="45720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82803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2F7"/>
                </a:solidFill>
                <a:latin typeface="Aptos"/>
              </a:rPr>
              <a:t>Hard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82803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DB1BF"/>
                </a:solidFill>
                <a:latin typeface="Aptos"/>
              </a:rPr>
              <a:t>Dead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4828032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8A04C"/>
                </a:solidFill>
                <a:latin typeface="Aptos"/>
              </a:rPr>
              <a:t>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A04C"/>
                </a:solidFill>
                <a:latin typeface="Aptos"/>
              </a:rPr>
              <a:t>Логіка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44982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DB1BF"/>
                </a:solidFill>
                <a:latin typeface="Aptos"/>
              </a:rPr>
              <a:t>Чим вищий глобальний %, тим більше гравців уже отримали досягнення.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1828800"/>
            <a:ext cx="3931920" cy="406908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45552" y="21031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2F7"/>
                </a:solidFill>
                <a:latin typeface="Aptos"/>
              </a:rPr>
              <a:t>Що отримує користувач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697480"/>
            <a:ext cx="31546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9D85FF"/>
                </a:solidFill>
                <a:latin typeface="Aptos"/>
              </a:defRPr>
            </a:pPr>
            <a:r>
              <a:t>1.</a:t>
            </a:r>
          </a:p>
          <a:p>
            <a:pPr>
              <a:spcAft>
                <a:spcPts val="500"/>
              </a:spcAft>
              <a:defRPr sz="1250" b="0">
                <a:solidFill>
                  <a:srgbClr val="ADB1BF"/>
                </a:solidFill>
                <a:latin typeface="Aptos"/>
              </a:defRPr>
            </a:pPr>
            <a:r>
              <a:t> Список того, що ще не закрито.</a:t>
            </a:r>
          </a:p>
          <a:p>
            <a:pPr>
              <a:spcAft>
                <a:spcPts val="500"/>
              </a:spcAft>
              <a:defRPr sz="1250" b="1">
                <a:solidFill>
                  <a:srgbClr val="E8A04C"/>
                </a:solidFill>
                <a:latin typeface="Aptos"/>
              </a:defRPr>
            </a:pPr>
            <a:r>
              <a:t>2.</a:t>
            </a:r>
          </a:p>
          <a:p>
            <a:pPr>
              <a:spcAft>
                <a:spcPts val="500"/>
              </a:spcAft>
              <a:defRPr sz="1250" b="0">
                <a:solidFill>
                  <a:srgbClr val="ADB1BF"/>
                </a:solidFill>
                <a:latin typeface="Aptos"/>
              </a:defRPr>
            </a:pPr>
            <a:r>
              <a:t> Пріоритет без ручного пошуку статистики.</a:t>
            </a:r>
          </a:p>
          <a:p>
            <a:pPr>
              <a:spcAft>
                <a:spcPts val="500"/>
              </a:spcAft>
              <a:defRPr sz="1250" b="1">
                <a:solidFill>
                  <a:srgbClr val="5DB885"/>
                </a:solidFill>
                <a:latin typeface="Aptos"/>
              </a:defRPr>
            </a:pPr>
            <a:r>
              <a:t>3.</a:t>
            </a:r>
          </a:p>
          <a:p>
            <a:pPr>
              <a:spcAft>
                <a:spcPts val="500"/>
              </a:spcAft>
              <a:defRPr sz="1250" b="0">
                <a:solidFill>
                  <a:srgbClr val="ADB1BF"/>
                </a:solidFill>
                <a:latin typeface="Aptos"/>
              </a:defRPr>
            </a:pPr>
            <a:r>
              <a:t> Підказка, з чого почати проходження.</a:t>
            </a:r>
          </a:p>
          <a:p>
            <a:pPr>
              <a:spcAft>
                <a:spcPts val="500"/>
              </a:spcAft>
              <a:defRPr sz="1250" b="1">
                <a:solidFill>
                  <a:srgbClr val="F1F2F7"/>
                </a:solidFill>
                <a:latin typeface="Aptos"/>
              </a:defRPr>
            </a:pPr>
            <a:r>
              <a:t>Важливо:</a:t>
            </a:r>
          </a:p>
          <a:p>
            <a:pPr>
              <a:spcAft>
                <a:spcPts val="500"/>
              </a:spcAft>
              <a:defRPr sz="1250" b="0">
                <a:solidFill>
                  <a:srgbClr val="ADB1BF"/>
                </a:solidFill>
                <a:latin typeface="Aptos"/>
              </a:defRPr>
            </a:pPr>
            <a:r>
              <a:t> модуль не визначає реальну складність досягнення — він використовує доступний глобальний відсоток.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МОДУЛЬ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Соціальний шар і Co-op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Замість окремого перегляду друзів — одна проста картина для спільної гри.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257800" cy="150876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0292" cy="1508760"/>
          </a:xfrm>
          <a:prstGeom prst="rect">
            <a:avLst/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B885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993392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Миттєвий статус друзів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395728"/>
            <a:ext cx="429768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Друзі-радар показує доступний статус: хто онлайн, у що грає та з ким можна перевірити спільні ігри. Користувачу не потрібно відкривати профіль кожного окремо.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566160"/>
            <a:ext cx="5257800" cy="150876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566160"/>
            <a:ext cx="50292" cy="1508760"/>
          </a:xfrm>
          <a:prstGeom prst="rect">
            <a:avLst/>
          </a:prstGeom>
          <a:solidFill>
            <a:srgbClr val="7E5CF6"/>
          </a:solidFill>
          <a:ln>
            <a:solidFill>
              <a:srgbClr val="7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749039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5CF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730752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2F7"/>
                </a:solidFill>
                <a:latin typeface="Aptos"/>
              </a:rPr>
              <a:t>Co-op Matchmaker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133087"/>
            <a:ext cx="429768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DB1BF"/>
                </a:solidFill>
                <a:latin typeface="Aptos"/>
              </a:rPr>
              <a:t>Система перетинає доступні дані про бібліотеки кількох гравців і формує список спільних ігор. Це вирішує типову проблему «у що зіграти разом?» без довгого пошуку.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303520" cy="324612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12140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2F7"/>
                </a:solidFill>
                <a:latin typeface="Aptos"/>
              </a:rPr>
              <a:t>Приклад сценарію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2697480"/>
            <a:ext cx="502920" cy="502920"/>
          </a:xfrm>
          <a:prstGeom prst="ellipse">
            <a:avLst/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7706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73405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F2F7"/>
                </a:solidFill>
                <a:latin typeface="Aptos"/>
              </a:rPr>
              <a:t>Миша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3405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DB885"/>
                </a:solidFill>
                <a:latin typeface="Aptos"/>
              </a:rPr>
              <a:t>грає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734056"/>
            <a:ext cx="1234440" cy="22860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2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8360" y="2752344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DB1BF"/>
                </a:solidFill>
                <a:latin typeface="Aptos"/>
              </a:rPr>
              <a:t>спільні ігри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3291840"/>
            <a:ext cx="502920" cy="502920"/>
          </a:xfrm>
          <a:prstGeom prst="ellipse">
            <a:avLst/>
          </a:prstGeom>
          <a:solidFill>
            <a:srgbClr val="9D85FF"/>
          </a:solidFill>
          <a:ln>
            <a:solidFill>
              <a:srgbClr val="9D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33649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3284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F2F7"/>
                </a:solidFill>
                <a:latin typeface="Aptos"/>
              </a:rPr>
              <a:t>Олег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32841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85FF"/>
                </a:solidFill>
                <a:latin typeface="Aptos"/>
              </a:rPr>
              <a:t>online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3328416"/>
            <a:ext cx="1234440" cy="22860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2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38360" y="3346704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DB1BF"/>
                </a:solidFill>
                <a:latin typeface="Aptos"/>
              </a:rPr>
              <a:t>спільні ігри</a:t>
            </a:r>
          </a:p>
        </p:txBody>
      </p:sp>
      <p:sp>
        <p:nvSpPr>
          <p:cNvPr id="30" name="Oval 29"/>
          <p:cNvSpPr/>
          <p:nvPr/>
        </p:nvSpPr>
        <p:spPr>
          <a:xfrm>
            <a:off x="6473952" y="3886200"/>
            <a:ext cx="502920" cy="502920"/>
          </a:xfrm>
          <a:prstGeom prst="ellipse">
            <a:avLst/>
          </a:prstGeom>
          <a:solidFill>
            <a:srgbClr val="E8A04C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39593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39227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F2F7"/>
                </a:solidFill>
                <a:latin typeface="Aptos"/>
              </a:rPr>
              <a:t>Анна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92277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A04C"/>
                </a:solidFill>
                <a:latin typeface="Aptos"/>
              </a:rPr>
              <a:t>online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3922776"/>
            <a:ext cx="1234440" cy="228600"/>
          </a:xfrm>
          <a:prstGeom prst="roundRect">
            <a:avLst>
              <a:gd name="adj" fmla="val 8000"/>
            </a:avLst>
          </a:prstGeom>
          <a:solidFill>
            <a:srgbClr val="272A3A"/>
          </a:solidFill>
          <a:ln>
            <a:solidFill>
              <a:srgbClr val="2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3941063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DB1BF"/>
                </a:solidFill>
                <a:latin typeface="Aptos"/>
              </a:rPr>
              <a:t>спільні ігри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572000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DB1BF"/>
                </a:solidFill>
                <a:latin typeface="Aptos"/>
              </a:rPr>
              <a:t>Результат: замість трьох окремих перевірок отримуємо один короткий список для вибору.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КОНКУРЕНТИ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Порівняння: Steam Hunters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Наша ідея не намагається замінити великий трекер — фокусуємося на аналітиці для свого Steam-профілю.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257800" cy="3977639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9D85FF"/>
                </a:solidFill>
                <a:latin typeface="Aptos"/>
              </a:rPr>
              <a:t>Steam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• Фокус тільки на Steam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7296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• Друзі-радар та статус онлайн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48456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• Co-op Matchmaker для кількох друзів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2394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• Планувальник досягнень за глобальним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994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• Аналіз використання власної бібліотеки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28800"/>
            <a:ext cx="5321808" cy="3977639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A04C"/>
                </a:solidFill>
                <a:latin typeface="Aptos"/>
              </a:rPr>
              <a:t>Steam Hunters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97480"/>
            <a:ext cx="4526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Сильні сторони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Працює роками, має велику спільноту, лідерборди, рейтинг рідкості досягнень і гайди.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Що слабше для нашої задачі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Немає нашого акценту на друзях, спільних іграх і простій аналітиці власної бібліотеки.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Висновок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Наш MVP вузькіший, але саме тому його функції простіше пояснити користувачу.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535838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steamhunters.com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КОНКУРЕНТИ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Порівняння: Exophase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Exophase має іншу сильну сторону — мультиплатформність.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257800" cy="3977639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9D85FF"/>
                </a:solidFill>
                <a:latin typeface="Aptos"/>
              </a:rPr>
              <a:t>Steam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Переваги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Працює тільки зі Steam і може глибше фокусуватися на ньому.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Друзі-радар з онлайн-статусом.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Планувальник досягнень із пріоритетом за глобальним %.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Недоліки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Немає мультиплатформності та спільноти такого масштабу.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828800"/>
            <a:ext cx="5321808" cy="3977639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12140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A04C"/>
                </a:solidFill>
                <a:latin typeface="Aptos"/>
              </a:rPr>
              <a:t>Exophase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670048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Сильні сторони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Об'єднує PSN, Xbox, Steam, Origin і Blizzard в одному профілі та має великі лідерборди.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Що не покриває наша задача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Для Steam Tracker важливі не тільки досягнення, а й статус друзів, спільні ігри та використання бібліотеки.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Висновок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Ми не конкуруємо кількістю платформ — наша перевага у вузькому сценарії Steam + друзі.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КОНКУРЕНТИ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Порівняння: Playnite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Playnite — менеджер бібліотеки для різних лаунчерів, тоді як Steam Tracker — веб-аналітика для Steam.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257800" cy="3977639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9D85FF"/>
                </a:solidFill>
                <a:latin typeface="Aptos"/>
              </a:rPr>
              <a:t>Steam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4526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Переваги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Соціальна частина: друзі, спільні ігри, лідерборд по годинах.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Планувальник досягнень із сортуванням за глобальним %.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Працює у браузері.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Недоліки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• Тільки Steam, немає плагінів, кастомних тем та офлайн-режиму.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828800"/>
            <a:ext cx="5321808" cy="3977639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12140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A04C"/>
                </a:solidFill>
                <a:latin typeface="Aptos"/>
              </a:rPr>
              <a:t>Playnite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670048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Сильні сторони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Працює з різними лаунчерами, повністю офлайн та може об'єднувати велику бібліотеку.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Відмінність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Playnite більше про керування бібліотекою. Steam Tracker — про аналітику Steam-даних і соціальні сценарії.</a:t>
            </a:r>
          </a:p>
          <a:p>
            <a:pPr>
              <a:spcAft>
                <a:spcPts val="500"/>
              </a:spcAft>
              <a:defRPr sz="1200" b="1">
                <a:solidFill>
                  <a:srgbClr val="F1F2F7"/>
                </a:solidFill>
                <a:latin typeface="Aptos"/>
              </a:defRPr>
            </a:pPr>
            <a:r>
              <a:t>Висновок</a:t>
            </a:r>
          </a:p>
          <a:p>
            <a:pPr>
              <a:spcAft>
                <a:spcPts val="500"/>
              </a:spcAft>
              <a:defRPr sz="1200" b="0">
                <a:solidFill>
                  <a:srgbClr val="ADB1BF"/>
                </a:solidFill>
                <a:latin typeface="Aptos"/>
              </a:defRPr>
            </a:pPr>
            <a:r>
              <a:t>У цих продуктів різні основні задачі, тому наш MVP може бути простішим за функціями.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Ключові показники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Показники, які допомагають пояснити, яку саме цінність дає Steam Tracker.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039112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7E5CF6"/>
                </a:solidFill>
                <a:latin typeface="Apto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51176"/>
            <a:ext cx="21854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 err="1">
                <a:solidFill>
                  <a:srgbClr val="ADB1BF"/>
                </a:solidFill>
                <a:latin typeface="Aptos"/>
              </a:rPr>
              <a:t>Фокус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на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друзях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: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порівнюємо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активності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у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вузькому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колі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, а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не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будуємо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глобальний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рейтинг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2039112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8A04C"/>
                </a:solidFill>
                <a:latin typeface="Aptos"/>
              </a:rPr>
              <a:t>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624327"/>
            <a:ext cx="21854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 err="1">
                <a:solidFill>
                  <a:srgbClr val="ADB1BF"/>
                </a:solidFill>
                <a:latin typeface="Aptos"/>
              </a:rPr>
              <a:t>Основні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запити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Steam Web API: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беремо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лише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потрібні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дані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для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побудови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DB1BF"/>
                </a:solidFill>
                <a:latin typeface="Aptos"/>
              </a:rPr>
              <a:t>аналітики</a:t>
            </a:r>
            <a:r>
              <a:rPr sz="1150" b="0" dirty="0">
                <a:solidFill>
                  <a:srgbClr val="ADB1BF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874519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2783" y="2039112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5DB885"/>
                </a:solidFill>
                <a:latin typeface="Aptos"/>
              </a:rPr>
              <a:t>Год / гра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624327"/>
            <a:ext cx="21854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DB1BF"/>
                </a:solidFill>
                <a:latin typeface="Aptos"/>
              </a:rPr>
              <a:t>Порівнюємо час у конкретних іграх, щоб оцінити використання бібліотеки.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1874519"/>
            <a:ext cx="2624328" cy="150876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7696" y="2039112"/>
            <a:ext cx="22951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9D85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624327"/>
            <a:ext cx="22951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DB1BF"/>
                </a:solidFill>
                <a:latin typeface="Aptos"/>
              </a:rPr>
              <a:t>Основні сценарії: бібліотека, досягнення та спільна гра.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30752"/>
            <a:ext cx="10799064" cy="192024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0233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2F7"/>
                </a:solidFill>
                <a:latin typeface="Aptos"/>
              </a:rPr>
              <a:t>Чому саме ці метрики?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526280"/>
            <a:ext cx="10012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Вони не перевантажують користувача десятками графіків. Ідея MVP — показати кілька простих показників, на основі яких можна швидко прийняти рішення: запустити гру, закрити досягнення або запросити друзів.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85FF"/>
                </a:solidFill>
                <a:latin typeface="Aptos"/>
              </a:rPr>
              <a:t>ТЕХНОЛОГІЇ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2F7"/>
                </a:solidFill>
                <a:latin typeface="Aptos"/>
              </a:rPr>
              <a:t>Архітектура та дані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Простий пайплайн обробки даних без збереження чутливої інформації.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DB1BF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42900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E5CF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2F7"/>
                </a:solidFill>
                <a:latin typeface="Aptos"/>
              </a:rPr>
              <a:t>Steam OpenID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788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Безпечний вхід через Steam без передачі пароля користувача сервісу.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82312"/>
            <a:ext cx="2697480" cy="73152"/>
          </a:xfrm>
          <a:prstGeom prst="roundRect">
            <a:avLst>
              <a:gd name="adj" fmla="val 8000"/>
            </a:avLst>
          </a:prstGeom>
          <a:solidFill>
            <a:srgbClr val="7E5CF6"/>
          </a:solidFill>
          <a:ln>
            <a:solidFill>
              <a:srgbClr val="7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15968" y="1828800"/>
            <a:ext cx="3383280" cy="342900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A04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7860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2F7"/>
                </a:solidFill>
                <a:latin typeface="Aptos"/>
              </a:rPr>
              <a:t>Steam Web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2788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Отримання бібліотеки, даних про досягнення, статусів профілів і списку друзів.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782312"/>
            <a:ext cx="2697480" cy="73152"/>
          </a:xfrm>
          <a:prstGeom prst="roundRect">
            <a:avLst>
              <a:gd name="adj" fmla="val 8000"/>
            </a:avLst>
          </a:prstGeom>
          <a:solidFill>
            <a:srgbClr val="E8A04C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73568" y="1828800"/>
            <a:ext cx="3383280" cy="342900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DB885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2F7"/>
                </a:solidFill>
                <a:latin typeface="Aptos"/>
              </a:rPr>
              <a:t>Аналітичний двигун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54680"/>
            <a:ext cx="2788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DB1BF"/>
                </a:solidFill>
                <a:latin typeface="Aptos"/>
              </a:rPr>
              <a:t>Обробка даних: сортування досягнень, аналіз бібліотеки та пошук спільних ігор.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782312"/>
            <a:ext cx="2697480" cy="73152"/>
          </a:xfrm>
          <a:prstGeom prst="roundRect">
            <a:avLst>
              <a:gd name="adj" fmla="val 8000"/>
            </a:avLst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33087" y="53949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ADB1BF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53949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DB1BF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595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DB1BF"/>
                </a:solidFill>
                <a:latin typeface="Aptos"/>
              </a:rPr>
              <a:t>Вхід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5595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DB1BF"/>
                </a:solidFill>
                <a:latin typeface="Aptos"/>
              </a:rPr>
              <a:t>Дані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5595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DB1BF"/>
                </a:solidFill>
                <a:latin typeface="Aptos"/>
              </a:rPr>
              <a:t>Аналітика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46520"/>
            <a:ext cx="10972800" cy="22860"/>
          </a:xfrm>
          <a:prstGeom prst="rect">
            <a:avLst/>
          </a:prstGeom>
          <a:solidFill>
            <a:srgbClr val="3F4357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DB1BF"/>
                </a:solidFill>
                <a:latin typeface="Aptos"/>
              </a:rPr>
              <a:t>Steam 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51052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DB1BF"/>
                </a:solidFill>
                <a:latin typeface="Aptos"/>
              </a:rPr>
              <a:t>MVP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8180" y="731520"/>
            <a:ext cx="10835640" cy="5166360"/>
          </a:xfrm>
          <a:prstGeom prst="roundRect">
            <a:avLst>
              <a:gd name="adj" fmla="val 8000"/>
            </a:avLst>
          </a:prstGeom>
          <a:solidFill>
            <a:srgbClr val="1F2230"/>
          </a:solidFill>
          <a:ln>
            <a:solidFill>
              <a:srgbClr val="3F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23444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2F7"/>
                </a:solidFill>
                <a:latin typeface="Aptos"/>
              </a:rPr>
              <a:t>Steam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9D85FF"/>
                </a:solidFill>
                <a:latin typeface="Aptos"/>
              </a:rPr>
              <a:t>Розумний шар аналітики над вашим Steam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700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2F7"/>
                </a:solidFill>
                <a:latin typeface="Aptos"/>
              </a:rPr>
              <a:t>Steam Tracker — це відповідь на три прості питання: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3182112"/>
            <a:ext cx="502920" cy="502920"/>
          </a:xfrm>
          <a:prstGeom prst="ellipse">
            <a:avLst/>
          </a:prstGeom>
          <a:solidFill>
            <a:srgbClr val="7E5CF6"/>
          </a:solidFill>
          <a:ln>
            <a:solidFill>
              <a:srgbClr val="7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25526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1416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32552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2F7"/>
                </a:solidFill>
                <a:latin typeface="Aptos"/>
              </a:rPr>
              <a:t>У що грати далі?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803904"/>
            <a:ext cx="502920" cy="502920"/>
          </a:xfrm>
          <a:prstGeom prst="ellipse">
            <a:avLst/>
          </a:prstGeom>
          <a:solidFill>
            <a:srgbClr val="E8A04C"/>
          </a:solidFill>
          <a:ln>
            <a:solidFill>
              <a:srgbClr val="E8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8770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387705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2F7"/>
                </a:solidFill>
                <a:latin typeface="Aptos"/>
              </a:rPr>
              <a:t>Які досягнення взяти наступними?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425696"/>
            <a:ext cx="502920" cy="502920"/>
          </a:xfrm>
          <a:prstGeom prst="ellipse">
            <a:avLst/>
          </a:prstGeom>
          <a:solidFill>
            <a:srgbClr val="5DB885"/>
          </a:solidFill>
          <a:ln>
            <a:solidFill>
              <a:srgbClr val="5D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620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44988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2F7"/>
                </a:solidFill>
                <a:latin typeface="Aptos"/>
              </a:rPr>
              <a:t>З ким сьогодні зіграти?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8869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DB1BF"/>
                </a:solidFill>
                <a:latin typeface="Aptos"/>
              </a:rPr>
              <a:t>Ідея MVP — не показати більше цифр, а перетворити вже наявні дані Steam на прості рішення для користувача.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722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DB1BF"/>
                </a:solidFill>
                <a:latin typeface="Aptos"/>
              </a:rPr>
              <a:t>Steam Tracker MVP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1722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ADB1B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1221</Words>
  <Application>Microsoft Office PowerPoint</Application>
  <PresentationFormat>Широкий екран</PresentationFormat>
  <Paragraphs>256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Михайло Ігнатюк</dc:creator>
  <cp:keywords/>
  <dc:description>generated using python-pptx</dc:description>
  <cp:lastModifiedBy>Михайло Ігнатюк</cp:lastModifiedBy>
  <cp:revision>2</cp:revision>
  <dcterms:created xsi:type="dcterms:W3CDTF">2013-01-27T09:14:16Z</dcterms:created>
  <dcterms:modified xsi:type="dcterms:W3CDTF">2026-09-10T21:12:14Z</dcterms:modified>
  <cp:category/>
</cp:coreProperties>
</file>